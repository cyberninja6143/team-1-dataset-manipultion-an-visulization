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0" r:id="rId4"/>
    <p:sldId id="259" r:id="rId5"/>
    <p:sldId id="265" r:id="rId6"/>
    <p:sldId id="268" r:id="rId7"/>
    <p:sldId id="264" r:id="rId8"/>
    <p:sldId id="263" r:id="rId9"/>
    <p:sldId id="262" r:id="rId10"/>
    <p:sldId id="266" r:id="rId11"/>
    <p:sldId id="261"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726"/>
  </p:normalViewPr>
  <p:slideViewPr>
    <p:cSldViewPr snapToGrid="0">
      <p:cViewPr varScale="1">
        <p:scale>
          <a:sx n="120" d="100"/>
          <a:sy n="120" d="100"/>
        </p:scale>
        <p:origin x="5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60700-3644-3E46-8D19-4269B9E04EA2}" type="datetimeFigureOut">
              <a:rPr lang="en-US" smtClean="0"/>
              <a:t>6/16/26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62012-D369-0B4C-9F20-B9FB5642BEA7}" type="slidenum">
              <a:rPr lang="en-US" smtClean="0"/>
              <a:t>‹#›</a:t>
            </a:fld>
            <a:endParaRPr lang="en-US"/>
          </a:p>
        </p:txBody>
      </p:sp>
    </p:spTree>
    <p:extLst>
      <p:ext uri="{BB962C8B-B14F-4D97-AF65-F5344CB8AC3E}">
        <p14:creationId xmlns:p14="http://schemas.microsoft.com/office/powerpoint/2010/main" val="352543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662012-D369-0B4C-9F20-B9FB5642BEA7}" type="slidenum">
              <a:rPr lang="en-US" smtClean="0"/>
              <a:t>3</a:t>
            </a:fld>
            <a:endParaRPr lang="en-US"/>
          </a:p>
        </p:txBody>
      </p:sp>
    </p:spTree>
    <p:extLst>
      <p:ext uri="{BB962C8B-B14F-4D97-AF65-F5344CB8AC3E}">
        <p14:creationId xmlns:p14="http://schemas.microsoft.com/office/powerpoint/2010/main" val="2264314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2A304-4E82-6D3A-93F5-866D1B0214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36E367-3D70-901F-2B6E-7825E695E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2F1CEF-A657-121D-B3F0-85838140FB2A}"/>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DBFF32C9-DE27-BE7A-0D85-7E9B12C37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82F08-0E66-008E-0368-C248464FB7CD}"/>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3165242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4BC1-841F-148B-6F39-9F5D66C474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7C7060-8637-C9D1-3D9E-5460DB6D67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9F91B6-B163-B2C0-81CA-0B88FAF4A7B6}"/>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470D0115-4C0D-2680-D4B4-580BA27B3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5AA055-39B6-863A-5311-DA3CC9E46DFF}"/>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1360597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B9AE-2B50-AC97-4B60-FCC7E9FDFF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7B95B3-44BC-33F8-96AE-2EC4E7A5E2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E5DF38-B14A-97BA-55F9-7B5BB548C0C7}"/>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2EB2771A-33D9-9C7B-0FAA-DFF1741BFF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6D557-2E4A-C3C9-83E2-F1D06D095014}"/>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2249206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B5C26-9017-E9A3-8F5E-64D8B46BCB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816C11-8B5E-FB81-D0FD-0F10CB05D3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CA9E83-AF6F-B73D-B045-3D9F6275E1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5E1F28-A0B1-C129-2901-1DBB1DBE7A20}"/>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6" name="Footer Placeholder 5">
            <a:extLst>
              <a:ext uri="{FF2B5EF4-FFF2-40B4-BE49-F238E27FC236}">
                <a16:creationId xmlns:a16="http://schemas.microsoft.com/office/drawing/2014/main" id="{B27E5E06-28D4-F9F2-B0AC-35F671EBE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F9E855-8D1D-7D34-499E-72F6CEB351C7}"/>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3624276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176D-6309-C527-0D5D-56B0F01A18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4B1E9B-87BE-99A8-3F3A-2A01C30A8B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6D7835-5E24-A6AC-0E08-AA8DD84555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C0A606-F091-C1CE-F910-698251267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ED619-6E0C-CF2A-90BC-D8A2883A1D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5AEE3D-CADD-AD65-AB89-F0150B861782}"/>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8" name="Footer Placeholder 7">
            <a:extLst>
              <a:ext uri="{FF2B5EF4-FFF2-40B4-BE49-F238E27FC236}">
                <a16:creationId xmlns:a16="http://schemas.microsoft.com/office/drawing/2014/main" id="{D02A71B8-34A0-8B00-9B8E-D75B9B6643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86F6FC-A0AC-ED1F-3988-2D3985372971}"/>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171455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0EA9-8C05-EF49-DB11-78CBB24B85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3B1453-8FCE-7A80-0AEB-6C1364FE36CD}"/>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4" name="Footer Placeholder 3">
            <a:extLst>
              <a:ext uri="{FF2B5EF4-FFF2-40B4-BE49-F238E27FC236}">
                <a16:creationId xmlns:a16="http://schemas.microsoft.com/office/drawing/2014/main" id="{45E19887-2628-CF85-8451-DA1CAAF371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3CF55C-65E4-09A0-655F-C45DF0F81AA5}"/>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249925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9A9FFB-87B2-437A-BAED-ECD81060CFB2}"/>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3" name="Footer Placeholder 2">
            <a:extLst>
              <a:ext uri="{FF2B5EF4-FFF2-40B4-BE49-F238E27FC236}">
                <a16:creationId xmlns:a16="http://schemas.microsoft.com/office/drawing/2014/main" id="{B9F1F219-869A-9CD0-068B-28D94DC1B9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8AC4FC-52D9-FE0F-6BFA-43148AB81ED2}"/>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167159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8792-785A-F726-6B81-2FAC50C820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42724F-CE8C-3C89-B8E1-2D6F028A40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497949-799A-6658-2C73-A720564A1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0D06DE-5A32-F14E-13EE-7994AC83A44B}"/>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6" name="Footer Placeholder 5">
            <a:extLst>
              <a:ext uri="{FF2B5EF4-FFF2-40B4-BE49-F238E27FC236}">
                <a16:creationId xmlns:a16="http://schemas.microsoft.com/office/drawing/2014/main" id="{9366560D-A4CB-9626-81B8-2550023B0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59E2-089B-9BC2-DEC1-95C579661C87}"/>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195979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2C477-8DB6-CB14-8920-03AF114C4F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A0ED48-2211-41BB-E2D5-5EE6DE3B3C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17CF2A-0E7B-ACFB-3E04-A304D3A72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1E552A-32AD-6A7E-9908-70964856F844}"/>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6" name="Footer Placeholder 5">
            <a:extLst>
              <a:ext uri="{FF2B5EF4-FFF2-40B4-BE49-F238E27FC236}">
                <a16:creationId xmlns:a16="http://schemas.microsoft.com/office/drawing/2014/main" id="{BD275886-89BE-52F9-774E-B051FC61FD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9FF3D-2B82-9244-F145-11F0B5114428}"/>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8473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94D3-22A3-D8DE-160E-5F14C2DCB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508A3D-883F-8935-933A-14E63B2CF6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553F7A-8B47-06A3-DC03-DB72647D336F}"/>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69617F7C-9353-4184-EAD1-13CFD7E84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6C625-2F42-D010-C7DB-F636B30EFF71}"/>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128299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A527B-032B-BCB7-67E0-1AFA06FD80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68B106-90D5-C908-92B1-4505DA9133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13F66E-28E6-D19A-E367-287F58E99EF2}"/>
              </a:ext>
            </a:extLst>
          </p:cNvPr>
          <p:cNvSpPr>
            <a:spLocks noGrp="1"/>
          </p:cNvSpPr>
          <p:nvPr>
            <p:ph type="dt" sz="half" idx="10"/>
          </p:nvPr>
        </p:nvSpPr>
        <p:spPr/>
        <p:txBody>
          <a:body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A814B4E0-0B98-B0A1-095F-7E8CDEE30F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6E8A92-E6F1-7A6B-4914-2370838D2E0A}"/>
              </a:ext>
            </a:extLst>
          </p:cNvPr>
          <p:cNvSpPr>
            <a:spLocks noGrp="1"/>
          </p:cNvSpPr>
          <p:nvPr>
            <p:ph type="sldNum" sz="quarter" idx="12"/>
          </p:nvPr>
        </p:nvSpPr>
        <p:spPr/>
        <p:txBody>
          <a:bodyPr/>
          <a:lstStyle/>
          <a:p>
            <a:fld id="{E515222E-F1D9-A745-BC32-B4C1DF69CDAB}" type="slidenum">
              <a:rPr lang="en-US" smtClean="0"/>
              <a:t>‹#›</a:t>
            </a:fld>
            <a:endParaRPr lang="en-US"/>
          </a:p>
        </p:txBody>
      </p:sp>
    </p:spTree>
    <p:extLst>
      <p:ext uri="{BB962C8B-B14F-4D97-AF65-F5344CB8AC3E}">
        <p14:creationId xmlns:p14="http://schemas.microsoft.com/office/powerpoint/2010/main" val="690102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6F2763-EAD7-298F-802A-53F37C8CE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F08FD-0AD5-F090-4D4D-40F3D81C4E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75B3C-8FF1-5B07-C009-8F1A763910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F3B984-4275-6C47-951D-9A514D680D9F}" type="datetimeFigureOut">
              <a:rPr lang="en-US" smtClean="0"/>
              <a:t>6/16/26</a:t>
            </a:fld>
            <a:endParaRPr lang="en-US"/>
          </a:p>
        </p:txBody>
      </p:sp>
      <p:sp>
        <p:nvSpPr>
          <p:cNvPr id="5" name="Footer Placeholder 4">
            <a:extLst>
              <a:ext uri="{FF2B5EF4-FFF2-40B4-BE49-F238E27FC236}">
                <a16:creationId xmlns:a16="http://schemas.microsoft.com/office/drawing/2014/main" id="{AB865982-8C7C-BFC0-C202-6D60E39EC9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52107E-6E2E-2EB1-7152-CC1FC12A1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15222E-F1D9-A745-BC32-B4C1DF69CDAB}" type="slidenum">
              <a:rPr lang="en-US" smtClean="0"/>
              <a:t>‹#›</a:t>
            </a:fld>
            <a:endParaRPr lang="en-US"/>
          </a:p>
        </p:txBody>
      </p:sp>
    </p:spTree>
    <p:extLst>
      <p:ext uri="{BB962C8B-B14F-4D97-AF65-F5344CB8AC3E}">
        <p14:creationId xmlns:p14="http://schemas.microsoft.com/office/powerpoint/2010/main" val="2015243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4EEB83C-C40C-D0BC-567C-FC14C9A3462D}"/>
              </a:ext>
            </a:extLst>
          </p:cNvPr>
          <p:cNvSpPr>
            <a:spLocks noGrp="1"/>
          </p:cNvSpPr>
          <p:nvPr>
            <p:ph type="subTitle" idx="1"/>
          </p:nvPr>
        </p:nvSpPr>
        <p:spPr>
          <a:xfrm>
            <a:off x="2339163" y="2393554"/>
            <a:ext cx="9377917" cy="3348038"/>
          </a:xfrm>
        </p:spPr>
        <p:txBody>
          <a:bodyPr>
            <a:normAutofit/>
          </a:bodyPr>
          <a:lstStyle/>
          <a:p>
            <a:pPr algn="just"/>
            <a:r>
              <a:rPr lang="en-US" sz="2800" dirty="0">
                <a:latin typeface="Arial Rounded MT Bold" panose="020F0704030504030204" pitchFamily="34" charset="77"/>
                <a:cs typeface="Chakra Petch" pitchFamily="2" charset="-34"/>
              </a:rPr>
              <a:t>Ariyan Shaikh - team leader</a:t>
            </a:r>
          </a:p>
          <a:p>
            <a:pPr algn="just"/>
            <a:r>
              <a:rPr lang="en-US" sz="2800" dirty="0">
                <a:latin typeface="Arial Rounded MT Bold" panose="020F0704030504030204" pitchFamily="34" charset="77"/>
                <a:cs typeface="Chakra Petch" pitchFamily="2" charset="-34"/>
              </a:rPr>
              <a:t>Naoto Shimizu</a:t>
            </a:r>
          </a:p>
          <a:p>
            <a:pPr algn="just"/>
            <a:r>
              <a:rPr lang="en-US" sz="2800" dirty="0">
                <a:latin typeface="Arial Rounded MT Bold" panose="020F0704030504030204" pitchFamily="34" charset="77"/>
                <a:cs typeface="Chakra Petch" pitchFamily="2" charset="-34"/>
              </a:rPr>
              <a:t>Alex Tran </a:t>
            </a:r>
          </a:p>
          <a:p>
            <a:pPr algn="just"/>
            <a:r>
              <a:rPr lang="en-US" sz="2800" dirty="0">
                <a:latin typeface="Arial Rounded MT Bold" panose="020F0704030504030204" pitchFamily="34" charset="77"/>
                <a:cs typeface="Chakra Petch" pitchFamily="2" charset="-34"/>
              </a:rPr>
              <a:t>Madhulika Sawant</a:t>
            </a:r>
          </a:p>
          <a:p>
            <a:pPr algn="just"/>
            <a:r>
              <a:rPr lang="en-US" sz="2800">
                <a:latin typeface="Arial Rounded MT Bold" panose="020F0704030504030204" pitchFamily="34" charset="77"/>
                <a:cs typeface="Chakra Petch" pitchFamily="2" charset="-34"/>
              </a:rPr>
              <a:t>Kyle Drewes</a:t>
            </a:r>
            <a:endParaRPr lang="en-US" sz="2800" dirty="0">
              <a:latin typeface="Arial Rounded MT Bold" panose="020F0704030504030204" pitchFamily="34" charset="77"/>
              <a:cs typeface="Chakra Petch" pitchFamily="2" charset="-34"/>
            </a:endParaRPr>
          </a:p>
          <a:p>
            <a:endParaRPr lang="en-US" sz="3200" dirty="0">
              <a:latin typeface="Dreaming Outloud Pro" panose="020F0502020204030204" pitchFamily="34" charset="0"/>
              <a:cs typeface="Dreaming Outloud Pro" panose="020F0502020204030204" pitchFamily="34" charset="0"/>
            </a:endParaRPr>
          </a:p>
        </p:txBody>
      </p:sp>
      <p:sp>
        <p:nvSpPr>
          <p:cNvPr id="5" name="Title 4">
            <a:extLst>
              <a:ext uri="{FF2B5EF4-FFF2-40B4-BE49-F238E27FC236}">
                <a16:creationId xmlns:a16="http://schemas.microsoft.com/office/drawing/2014/main" id="{418F71B0-9FF7-252D-F65C-6FC7851F3654}"/>
              </a:ext>
            </a:extLst>
          </p:cNvPr>
          <p:cNvSpPr>
            <a:spLocks noGrp="1"/>
          </p:cNvSpPr>
          <p:nvPr>
            <p:ph type="ctrTitle"/>
          </p:nvPr>
        </p:nvSpPr>
        <p:spPr>
          <a:xfrm>
            <a:off x="645209" y="1408180"/>
            <a:ext cx="8427740" cy="879042"/>
          </a:xfrm>
        </p:spPr>
        <p:txBody>
          <a:bodyPr>
            <a:normAutofit fontScale="90000"/>
          </a:bodyPr>
          <a:lstStyle/>
          <a:p>
            <a:r>
              <a:rPr lang="en-US" dirty="0">
                <a:latin typeface="Aharoni" panose="02010803020104030203" pitchFamily="2" charset="-79"/>
                <a:ea typeface="ADLaM Display" panose="02010000000000000000" pitchFamily="2" charset="77"/>
                <a:cs typeface="Aharoni" panose="02010803020104030203" pitchFamily="2" charset="-79"/>
              </a:rPr>
              <a:t>Coffee Analysis </a:t>
            </a:r>
          </a:p>
        </p:txBody>
      </p:sp>
      <p:cxnSp>
        <p:nvCxnSpPr>
          <p:cNvPr id="9" name="Straight Connector 8">
            <a:extLst>
              <a:ext uri="{FF2B5EF4-FFF2-40B4-BE49-F238E27FC236}">
                <a16:creationId xmlns:a16="http://schemas.microsoft.com/office/drawing/2014/main" id="{A2A9E462-EEBB-5F7A-EC87-3690B2B6CE57}"/>
              </a:ext>
            </a:extLst>
          </p:cNvPr>
          <p:cNvCxnSpPr/>
          <p:nvPr/>
        </p:nvCxnSpPr>
        <p:spPr>
          <a:xfrm>
            <a:off x="2158409" y="2256546"/>
            <a:ext cx="5465134"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03818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F3C10-92D8-A551-A9D0-53FBB8827CCD}"/>
              </a:ext>
            </a:extLst>
          </p:cNvPr>
          <p:cNvSpPr txBox="1"/>
          <p:nvPr/>
        </p:nvSpPr>
        <p:spPr>
          <a:xfrm>
            <a:off x="242528" y="3945292"/>
            <a:ext cx="6097772" cy="584775"/>
          </a:xfrm>
          <a:prstGeom prst="rect">
            <a:avLst/>
          </a:prstGeom>
          <a:noFill/>
        </p:spPr>
        <p:txBody>
          <a:bodyPr wrap="square">
            <a:spAutoFit/>
          </a:bodyPr>
          <a:lstStyle/>
          <a:p>
            <a:r>
              <a:rPr lang="en-US" sz="1600" dirty="0"/>
              <a:t>Link: https://</a:t>
            </a:r>
            <a:r>
              <a:rPr lang="en-US" sz="1600" dirty="0" err="1"/>
              <a:t>www.kaggle.com</a:t>
            </a:r>
            <a:r>
              <a:rPr lang="en-US" sz="1600" dirty="0"/>
              <a:t>/datasets/</a:t>
            </a:r>
            <a:r>
              <a:rPr lang="en-US" sz="1600" dirty="0" err="1"/>
              <a:t>ibrahimqasimi</a:t>
            </a:r>
            <a:r>
              <a:rPr lang="en-US" sz="1600" dirty="0"/>
              <a:t>/great-american-coffee-taste-test-2024?resource=download</a:t>
            </a:r>
          </a:p>
        </p:txBody>
      </p:sp>
      <p:sp>
        <p:nvSpPr>
          <p:cNvPr id="6" name="Title 4">
            <a:extLst>
              <a:ext uri="{FF2B5EF4-FFF2-40B4-BE49-F238E27FC236}">
                <a16:creationId xmlns:a16="http://schemas.microsoft.com/office/drawing/2014/main" id="{99E083C7-A4F6-2238-1562-275759122ACF}"/>
              </a:ext>
            </a:extLst>
          </p:cNvPr>
          <p:cNvSpPr txBox="1">
            <a:spLocks/>
          </p:cNvSpPr>
          <p:nvPr/>
        </p:nvSpPr>
        <p:spPr>
          <a:xfrm>
            <a:off x="242528" y="72326"/>
            <a:ext cx="8427740" cy="8790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haroni" panose="02010803020104030203" pitchFamily="2" charset="-79"/>
                <a:ea typeface="ADLaM Display" panose="02010000000000000000" pitchFamily="2" charset="77"/>
                <a:cs typeface="Aharoni" panose="02010803020104030203" pitchFamily="2" charset="-79"/>
              </a:rPr>
              <a:t>About</a:t>
            </a:r>
          </a:p>
        </p:txBody>
      </p:sp>
      <p:sp>
        <p:nvSpPr>
          <p:cNvPr id="12" name="TextBox 11">
            <a:extLst>
              <a:ext uri="{FF2B5EF4-FFF2-40B4-BE49-F238E27FC236}">
                <a16:creationId xmlns:a16="http://schemas.microsoft.com/office/drawing/2014/main" id="{97DB85B6-4242-6D10-23A9-5DDFAF014A9F}"/>
              </a:ext>
            </a:extLst>
          </p:cNvPr>
          <p:cNvSpPr txBox="1"/>
          <p:nvPr/>
        </p:nvSpPr>
        <p:spPr>
          <a:xfrm>
            <a:off x="242528" y="836748"/>
            <a:ext cx="5703910" cy="3693319"/>
          </a:xfrm>
          <a:prstGeom prst="rect">
            <a:avLst/>
          </a:prstGeom>
          <a:noFill/>
        </p:spPr>
        <p:txBody>
          <a:bodyPr wrap="square" rtlCol="0">
            <a:spAutoFit/>
          </a:bodyPr>
          <a:lstStyle/>
          <a:p>
            <a:r>
              <a:rPr lang="en-US" dirty="0">
                <a:latin typeface="Arima Madurai" pitchFamily="2" charset="77"/>
                <a:cs typeface="Arima Madurai" pitchFamily="2" charset="77"/>
              </a:rPr>
              <a:t>• Dataset: Great American Coffee Taste Test 2024</a:t>
            </a:r>
          </a:p>
          <a:p>
            <a:r>
              <a:rPr lang="en-US" dirty="0">
                <a:latin typeface="Arima Madurai" pitchFamily="2" charset="77"/>
                <a:cs typeface="Arima Madurai" pitchFamily="2" charset="77"/>
              </a:rPr>
              <a:t>• Participated by 4,042 American coffee drinks</a:t>
            </a:r>
          </a:p>
          <a:p>
            <a:r>
              <a:rPr lang="en-US" dirty="0">
                <a:latin typeface="Arima Madurai" pitchFamily="2" charset="77"/>
                <a:cs typeface="Arima Madurai" pitchFamily="2" charset="77"/>
              </a:rPr>
              <a:t>• Each participant was blindly served 4 coffee samples each (A,B,C,D)</a:t>
            </a:r>
          </a:p>
          <a:p>
            <a:r>
              <a:rPr lang="en-US" dirty="0">
                <a:latin typeface="Arima Madurai" pitchFamily="2" charset="77"/>
                <a:cs typeface="Arima Madurai" pitchFamily="2" charset="77"/>
              </a:rPr>
              <a:t>• Coffee was rated on bitterness, acidity, and personal preference</a:t>
            </a:r>
          </a:p>
          <a:p>
            <a:r>
              <a:rPr lang="en-US" dirty="0">
                <a:latin typeface="Arima Madurai" pitchFamily="2" charset="77"/>
                <a:cs typeface="Arima Madurai" pitchFamily="2" charset="77"/>
              </a:rPr>
              <a:t>• This survey consists of 57 columns of demographic, brewing and spending data</a:t>
            </a:r>
          </a:p>
          <a:p>
            <a:endParaRPr lang="en-US" dirty="0">
              <a:latin typeface="Arima Madurai" pitchFamily="2" charset="77"/>
              <a:cs typeface="Arima Madurai" pitchFamily="2" charset="77"/>
            </a:endParaRPr>
          </a:p>
          <a:p>
            <a:r>
              <a:rPr lang="en-US" b="1" dirty="0">
                <a:latin typeface="Arima Madurai Bold" pitchFamily="2" charset="77"/>
                <a:cs typeface="Arima Madurai Bold" pitchFamily="2" charset="77"/>
              </a:rPr>
              <a:t>Demographics: </a:t>
            </a:r>
            <a:r>
              <a:rPr lang="en-US" dirty="0">
                <a:latin typeface="Arima Madurai" pitchFamily="2" charset="77"/>
                <a:cs typeface="Arima Madurai" pitchFamily="2" charset="77"/>
              </a:rPr>
              <a:t>age, gender, ethnicity, education level, political affiliation and etc.</a:t>
            </a:r>
          </a:p>
          <a:p>
            <a:endParaRPr lang="en-US" dirty="0">
              <a:latin typeface="Arima Madurai Bold" pitchFamily="2" charset="77"/>
              <a:cs typeface="Arima Madurai Bold" pitchFamily="2" charset="77"/>
            </a:endParaRPr>
          </a:p>
          <a:p>
            <a:r>
              <a:rPr lang="en-US" dirty="0">
                <a:latin typeface="Arima Madurai" pitchFamily="2" charset="77"/>
                <a:cs typeface="Arima Madurai" pitchFamily="2" charset="77"/>
              </a:rPr>
              <a:t> </a:t>
            </a:r>
          </a:p>
        </p:txBody>
      </p:sp>
      <p:pic>
        <p:nvPicPr>
          <p:cNvPr id="13" name="Picture 12">
            <a:extLst>
              <a:ext uri="{FF2B5EF4-FFF2-40B4-BE49-F238E27FC236}">
                <a16:creationId xmlns:a16="http://schemas.microsoft.com/office/drawing/2014/main" id="{51638528-3625-05F2-2418-C7DADCA5C243}"/>
              </a:ext>
            </a:extLst>
          </p:cNvPr>
          <p:cNvPicPr>
            <a:picLocks noChangeAspect="1"/>
          </p:cNvPicPr>
          <p:nvPr/>
        </p:nvPicPr>
        <p:blipFill>
          <a:blip r:embed="rId3"/>
          <a:stretch>
            <a:fillRect/>
          </a:stretch>
        </p:blipFill>
        <p:spPr>
          <a:xfrm>
            <a:off x="6467631" y="327296"/>
            <a:ext cx="5041900" cy="2540000"/>
          </a:xfrm>
          <a:prstGeom prst="rect">
            <a:avLst/>
          </a:prstGeom>
        </p:spPr>
      </p:pic>
      <p:pic>
        <p:nvPicPr>
          <p:cNvPr id="15" name="Picture 14">
            <a:extLst>
              <a:ext uri="{FF2B5EF4-FFF2-40B4-BE49-F238E27FC236}">
                <a16:creationId xmlns:a16="http://schemas.microsoft.com/office/drawing/2014/main" id="{8FBC8AB4-D6C9-12B9-2D57-8EB0E3AB145D}"/>
              </a:ext>
            </a:extLst>
          </p:cNvPr>
          <p:cNvPicPr>
            <a:picLocks noChangeAspect="1"/>
          </p:cNvPicPr>
          <p:nvPr/>
        </p:nvPicPr>
        <p:blipFill>
          <a:blip r:embed="rId4"/>
          <a:stretch>
            <a:fillRect/>
          </a:stretch>
        </p:blipFill>
        <p:spPr>
          <a:xfrm>
            <a:off x="6467631" y="3098905"/>
            <a:ext cx="4906045" cy="3258760"/>
          </a:xfrm>
          <a:prstGeom prst="rect">
            <a:avLst/>
          </a:prstGeom>
        </p:spPr>
      </p:pic>
    </p:spTree>
    <p:extLst>
      <p:ext uri="{BB962C8B-B14F-4D97-AF65-F5344CB8AC3E}">
        <p14:creationId xmlns:p14="http://schemas.microsoft.com/office/powerpoint/2010/main" val="429371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8F3A70-FB5F-3BA5-B91F-362AC9787D97}"/>
              </a:ext>
            </a:extLst>
          </p:cNvPr>
          <p:cNvSpPr txBox="1">
            <a:spLocks/>
          </p:cNvSpPr>
          <p:nvPr/>
        </p:nvSpPr>
        <p:spPr>
          <a:xfrm>
            <a:off x="595312" y="-300038"/>
            <a:ext cx="9144000" cy="2152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6000" dirty="0">
              <a:latin typeface="Aharoni" panose="02010803020104030203" pitchFamily="2" charset="-79"/>
              <a:cs typeface="Aharoni" panose="02010803020104030203" pitchFamily="2" charset="-79"/>
            </a:endParaRPr>
          </a:p>
        </p:txBody>
      </p:sp>
      <p:sp>
        <p:nvSpPr>
          <p:cNvPr id="5" name="Subtitle 2">
            <a:extLst>
              <a:ext uri="{FF2B5EF4-FFF2-40B4-BE49-F238E27FC236}">
                <a16:creationId xmlns:a16="http://schemas.microsoft.com/office/drawing/2014/main" id="{1C9C7AF4-448F-84EE-583C-7C60B6541363}"/>
              </a:ext>
            </a:extLst>
          </p:cNvPr>
          <p:cNvSpPr txBox="1">
            <a:spLocks/>
          </p:cNvSpPr>
          <p:nvPr/>
        </p:nvSpPr>
        <p:spPr>
          <a:xfrm>
            <a:off x="590549" y="1228724"/>
            <a:ext cx="11396664" cy="2028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200" dirty="0">
              <a:latin typeface="Dreaming Outloud Pro" panose="020F0502020204030204" pitchFamily="34" charset="0"/>
              <a:cs typeface="Dreaming Outloud Pro" panose="020F0502020204030204" pitchFamily="34" charset="0"/>
            </a:endParaRPr>
          </a:p>
        </p:txBody>
      </p:sp>
      <p:sp>
        <p:nvSpPr>
          <p:cNvPr id="9" name="TextBox 8">
            <a:extLst>
              <a:ext uri="{FF2B5EF4-FFF2-40B4-BE49-F238E27FC236}">
                <a16:creationId xmlns:a16="http://schemas.microsoft.com/office/drawing/2014/main" id="{01EAE0CE-7BC5-3017-225D-42726EDEE3A6}"/>
              </a:ext>
            </a:extLst>
          </p:cNvPr>
          <p:cNvSpPr txBox="1"/>
          <p:nvPr/>
        </p:nvSpPr>
        <p:spPr>
          <a:xfrm>
            <a:off x="92834" y="87317"/>
            <a:ext cx="6100354" cy="754053"/>
          </a:xfrm>
          <a:prstGeom prst="rect">
            <a:avLst/>
          </a:prstGeom>
          <a:noFill/>
        </p:spPr>
        <p:txBody>
          <a:bodyPr wrap="square">
            <a:spAutoFit/>
          </a:bodyPr>
          <a:lstStyle/>
          <a:p>
            <a:r>
              <a:rPr lang="en-US" sz="4300" dirty="0">
                <a:latin typeface="Aharoni" panose="02010803020104030203" pitchFamily="2" charset="-79"/>
                <a:ea typeface="ADLaM Display" panose="02010000000000000000" pitchFamily="2" charset="77"/>
                <a:cs typeface="Aharoni" panose="02010803020104030203" pitchFamily="2" charset="-79"/>
              </a:rPr>
              <a:t>Goal</a:t>
            </a:r>
            <a:endParaRPr lang="en-US" sz="4300" dirty="0"/>
          </a:p>
        </p:txBody>
      </p:sp>
      <p:sp>
        <p:nvSpPr>
          <p:cNvPr id="11" name="TextBox 10">
            <a:extLst>
              <a:ext uri="{FF2B5EF4-FFF2-40B4-BE49-F238E27FC236}">
                <a16:creationId xmlns:a16="http://schemas.microsoft.com/office/drawing/2014/main" id="{42513DDE-4A95-030B-6B96-142DC60838C5}"/>
              </a:ext>
            </a:extLst>
          </p:cNvPr>
          <p:cNvSpPr txBox="1"/>
          <p:nvPr/>
        </p:nvSpPr>
        <p:spPr>
          <a:xfrm>
            <a:off x="92834" y="841370"/>
            <a:ext cx="4622394" cy="2462213"/>
          </a:xfrm>
          <a:prstGeom prst="rect">
            <a:avLst/>
          </a:prstGeom>
          <a:noFill/>
        </p:spPr>
        <p:txBody>
          <a:bodyPr wrap="square" rtlCol="0">
            <a:spAutoFit/>
          </a:bodyPr>
          <a:lstStyle/>
          <a:p>
            <a:r>
              <a:rPr lang="en-US" sz="1400" dirty="0">
                <a:latin typeface="Muna" pitchFamily="2" charset="-78"/>
                <a:ea typeface="Menlo" panose="020B0609030804020204" pitchFamily="49" charset="0"/>
                <a:cs typeface="Muna" pitchFamily="2" charset="-78"/>
              </a:rPr>
              <a:t>• Produce 1 graph that illustrates flavors consumed by females</a:t>
            </a:r>
          </a:p>
          <a:p>
            <a:r>
              <a:rPr lang="en-US" sz="1400" dirty="0">
                <a:latin typeface="Muna" pitchFamily="2" charset="-78"/>
                <a:ea typeface="Menlo" panose="020B0609030804020204" pitchFamily="49" charset="0"/>
                <a:cs typeface="Muna" pitchFamily="2" charset="-78"/>
              </a:rPr>
              <a:t>   x = Age Range, y = count of favorite flavor (</a:t>
            </a:r>
            <a:r>
              <a:rPr lang="en-US" sz="1400" dirty="0" err="1">
                <a:latin typeface="Muna" pitchFamily="2" charset="-78"/>
                <a:ea typeface="Menlo" panose="020B0609030804020204" pitchFamily="49" charset="0"/>
                <a:cs typeface="Muna" pitchFamily="2" charset="-78"/>
              </a:rPr>
              <a:t>Pourover</a:t>
            </a:r>
            <a:r>
              <a:rPr lang="en-US" sz="1400" dirty="0">
                <a:latin typeface="Muna" pitchFamily="2" charset="-78"/>
                <a:ea typeface="Menlo" panose="020B0609030804020204" pitchFamily="49" charset="0"/>
                <a:cs typeface="Muna" pitchFamily="2" charset="-78"/>
              </a:rPr>
              <a:t>, Regular drip coffee, Latte, Cappuccino, Espresso)</a:t>
            </a:r>
          </a:p>
          <a:p>
            <a:endParaRPr lang="en-US" sz="1400" dirty="0">
              <a:latin typeface="Muna" pitchFamily="2" charset="-78"/>
              <a:ea typeface="Menlo" panose="020B0609030804020204" pitchFamily="49" charset="0"/>
              <a:cs typeface="Muna" pitchFamily="2" charset="-78"/>
            </a:endParaRPr>
          </a:p>
          <a:p>
            <a:r>
              <a:rPr lang="en-US" sz="1400" dirty="0">
                <a:latin typeface="Muna" pitchFamily="2" charset="-78"/>
                <a:ea typeface="Menlo" panose="020B0609030804020204" pitchFamily="49" charset="0"/>
                <a:cs typeface="Muna" pitchFamily="2" charset="-78"/>
              </a:rPr>
              <a:t>• Produce 1 graph that illustrates flavors consumed by males</a:t>
            </a:r>
          </a:p>
          <a:p>
            <a:r>
              <a:rPr lang="en-US" sz="1400" dirty="0">
                <a:latin typeface="Muna" pitchFamily="2" charset="-78"/>
                <a:ea typeface="Menlo" panose="020B0609030804020204" pitchFamily="49" charset="0"/>
                <a:cs typeface="Muna" pitchFamily="2" charset="-78"/>
              </a:rPr>
              <a:t>   x = Age Range, y = count of favorite flavor (</a:t>
            </a:r>
            <a:r>
              <a:rPr lang="en-US" sz="1400" dirty="0" err="1">
                <a:latin typeface="Muna" pitchFamily="2" charset="-78"/>
                <a:ea typeface="Menlo" panose="020B0609030804020204" pitchFamily="49" charset="0"/>
                <a:cs typeface="Muna" pitchFamily="2" charset="-78"/>
              </a:rPr>
              <a:t>Pourover</a:t>
            </a:r>
            <a:r>
              <a:rPr lang="en-US" sz="1400" dirty="0">
                <a:latin typeface="Muna" pitchFamily="2" charset="-78"/>
                <a:ea typeface="Menlo" panose="020B0609030804020204" pitchFamily="49" charset="0"/>
                <a:cs typeface="Muna" pitchFamily="2" charset="-78"/>
              </a:rPr>
              <a:t>, Regular drip coffee, Latte, Cappuccino, Espresso)</a:t>
            </a:r>
          </a:p>
          <a:p>
            <a:endParaRPr lang="en-US" sz="1400" dirty="0"/>
          </a:p>
          <a:p>
            <a:endParaRPr lang="en-US" sz="1400" dirty="0"/>
          </a:p>
        </p:txBody>
      </p:sp>
      <p:sp>
        <p:nvSpPr>
          <p:cNvPr id="15" name="TextBox 14">
            <a:extLst>
              <a:ext uri="{FF2B5EF4-FFF2-40B4-BE49-F238E27FC236}">
                <a16:creationId xmlns:a16="http://schemas.microsoft.com/office/drawing/2014/main" id="{61B17DC5-C98C-075E-07BE-78B175873BAA}"/>
              </a:ext>
            </a:extLst>
          </p:cNvPr>
          <p:cNvSpPr txBox="1"/>
          <p:nvPr/>
        </p:nvSpPr>
        <p:spPr>
          <a:xfrm>
            <a:off x="4602092" y="663653"/>
            <a:ext cx="7498258" cy="2679218"/>
          </a:xfrm>
          <a:prstGeom prst="rect">
            <a:avLst/>
          </a:prstGeom>
          <a:noFill/>
        </p:spPr>
        <p:txBody>
          <a:bodyPr wrap="square" rtlCol="0">
            <a:spAutoFit/>
          </a:bodyPr>
          <a:lstStyle/>
          <a:p>
            <a:r>
              <a:rPr lang="en-US" sz="2300" dirty="0">
                <a:latin typeface="Rockwell" panose="02060603020205020403" pitchFamily="18" charset="77"/>
                <a:ea typeface="Tahoma" panose="020B0604030504040204" pitchFamily="34" charset="0"/>
                <a:cs typeface="Niramit" pitchFamily="2" charset="-34"/>
              </a:rPr>
              <a:t>------------------ Stories ------------------ </a:t>
            </a:r>
          </a:p>
          <a:p>
            <a:pPr marL="342900" indent="-342900">
              <a:buAutoNum type="arabicParenR"/>
            </a:pPr>
            <a:r>
              <a:rPr lang="en-US" sz="2300" dirty="0">
                <a:latin typeface="Rockwell" panose="02060603020205020403" pitchFamily="18" charset="77"/>
                <a:ea typeface="Tahoma" panose="020B0604030504040204" pitchFamily="34" charset="0"/>
                <a:cs typeface="Niramit" pitchFamily="2" charset="-34"/>
              </a:rPr>
              <a:t>Load data set – Kyle</a:t>
            </a:r>
          </a:p>
          <a:p>
            <a:pPr marL="342900" indent="-342900">
              <a:buAutoNum type="arabicParenR"/>
            </a:pPr>
            <a:r>
              <a:rPr lang="en-US" sz="2300" dirty="0">
                <a:latin typeface="Rockwell" panose="02060603020205020403" pitchFamily="18" charset="77"/>
                <a:ea typeface="Tahoma" panose="020B0604030504040204" pitchFamily="34" charset="0"/>
                <a:cs typeface="Niramit" pitchFamily="2" charset="-34"/>
              </a:rPr>
              <a:t>Inspect the raw data - Madhulika </a:t>
            </a:r>
          </a:p>
          <a:p>
            <a:pPr marL="342900" indent="-342900">
              <a:buAutoNum type="arabicParenR"/>
            </a:pPr>
            <a:r>
              <a:rPr lang="en-US" sz="2300" dirty="0">
                <a:latin typeface="Rockwell" panose="02060603020205020403" pitchFamily="18" charset="77"/>
                <a:ea typeface="Tahoma" panose="020B0604030504040204" pitchFamily="34" charset="0"/>
                <a:cs typeface="Niramit" pitchFamily="2" charset="-34"/>
              </a:rPr>
              <a:t>Clean Data - Ariyan  </a:t>
            </a:r>
          </a:p>
          <a:p>
            <a:pPr marL="342900" indent="-342900">
              <a:buAutoNum type="arabicParenR"/>
            </a:pPr>
            <a:r>
              <a:rPr lang="en-US" sz="2300" dirty="0">
                <a:latin typeface="Rockwell" panose="02060603020205020403" pitchFamily="18" charset="77"/>
                <a:ea typeface="Tahoma" panose="020B0604030504040204" pitchFamily="34" charset="0"/>
                <a:cs typeface="Niramit" pitchFamily="2" charset="-34"/>
              </a:rPr>
              <a:t>Process and analyze - Alex </a:t>
            </a:r>
          </a:p>
          <a:p>
            <a:pPr marL="342900" indent="-342900">
              <a:buAutoNum type="arabicParenR"/>
            </a:pPr>
            <a:r>
              <a:rPr lang="en-US" sz="2300" dirty="0">
                <a:latin typeface="Rockwell" panose="02060603020205020403" pitchFamily="18" charset="77"/>
                <a:ea typeface="Tahoma" panose="020B0604030504040204" pitchFamily="34" charset="0"/>
                <a:cs typeface="Niramit" pitchFamily="2" charset="-34"/>
              </a:rPr>
              <a:t>Visualize - Naoto </a:t>
            </a:r>
          </a:p>
          <a:p>
            <a:endParaRPr lang="en-US" sz="2400" dirty="0">
              <a:latin typeface="Bai Jamjuree" pitchFamily="2" charset="-34"/>
              <a:cs typeface="Bai Jamjuree" pitchFamily="2" charset="-34"/>
            </a:endParaRPr>
          </a:p>
        </p:txBody>
      </p:sp>
      <p:pic>
        <p:nvPicPr>
          <p:cNvPr id="16" name="Picture 15">
            <a:extLst>
              <a:ext uri="{FF2B5EF4-FFF2-40B4-BE49-F238E27FC236}">
                <a16:creationId xmlns:a16="http://schemas.microsoft.com/office/drawing/2014/main" id="{6DC1E642-CB34-0E7F-C380-EAD883E94F55}"/>
              </a:ext>
            </a:extLst>
          </p:cNvPr>
          <p:cNvPicPr>
            <a:picLocks noChangeAspect="1"/>
          </p:cNvPicPr>
          <p:nvPr/>
        </p:nvPicPr>
        <p:blipFill>
          <a:blip r:embed="rId4"/>
          <a:stretch>
            <a:fillRect/>
          </a:stretch>
        </p:blipFill>
        <p:spPr>
          <a:xfrm>
            <a:off x="96082" y="3257549"/>
            <a:ext cx="6097106" cy="3341683"/>
          </a:xfrm>
          <a:prstGeom prst="rect">
            <a:avLst/>
          </a:prstGeom>
        </p:spPr>
      </p:pic>
      <p:sp>
        <p:nvSpPr>
          <p:cNvPr id="17" name="TextBox 16">
            <a:extLst>
              <a:ext uri="{FF2B5EF4-FFF2-40B4-BE49-F238E27FC236}">
                <a16:creationId xmlns:a16="http://schemas.microsoft.com/office/drawing/2014/main" id="{2CD53293-1A65-52B9-B115-DA18DC0FC4C5}"/>
              </a:ext>
            </a:extLst>
          </p:cNvPr>
          <p:cNvSpPr txBox="1"/>
          <p:nvPr/>
        </p:nvSpPr>
        <p:spPr>
          <a:xfrm>
            <a:off x="-2863" y="6592755"/>
            <a:ext cx="1504514" cy="307777"/>
          </a:xfrm>
          <a:prstGeom prst="rect">
            <a:avLst/>
          </a:prstGeom>
          <a:noFill/>
        </p:spPr>
        <p:txBody>
          <a:bodyPr wrap="none" rtlCol="0">
            <a:spAutoFit/>
          </a:bodyPr>
          <a:lstStyle/>
          <a:p>
            <a:r>
              <a:rPr lang="en-US" sz="1400" dirty="0"/>
              <a:t>Sample use case</a:t>
            </a:r>
          </a:p>
        </p:txBody>
      </p:sp>
    </p:spTree>
    <p:extLst>
      <p:ext uri="{BB962C8B-B14F-4D97-AF65-F5344CB8AC3E}">
        <p14:creationId xmlns:p14="http://schemas.microsoft.com/office/powerpoint/2010/main" val="374091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8F3A70-FB5F-3BA5-B91F-362AC9787D97}"/>
              </a:ext>
            </a:extLst>
          </p:cNvPr>
          <p:cNvSpPr txBox="1">
            <a:spLocks/>
          </p:cNvSpPr>
          <p:nvPr/>
        </p:nvSpPr>
        <p:spPr>
          <a:xfrm>
            <a:off x="595312" y="-300038"/>
            <a:ext cx="9144000" cy="2152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6000" dirty="0">
              <a:latin typeface="Aharoni" panose="02010803020104030203" pitchFamily="2" charset="-79"/>
              <a:cs typeface="Aharoni" panose="02010803020104030203" pitchFamily="2" charset="-79"/>
            </a:endParaRPr>
          </a:p>
        </p:txBody>
      </p:sp>
      <p:sp>
        <p:nvSpPr>
          <p:cNvPr id="5" name="Subtitle 2">
            <a:extLst>
              <a:ext uri="{FF2B5EF4-FFF2-40B4-BE49-F238E27FC236}">
                <a16:creationId xmlns:a16="http://schemas.microsoft.com/office/drawing/2014/main" id="{1C9C7AF4-448F-84EE-583C-7C60B6541363}"/>
              </a:ext>
            </a:extLst>
          </p:cNvPr>
          <p:cNvSpPr txBox="1">
            <a:spLocks/>
          </p:cNvSpPr>
          <p:nvPr/>
        </p:nvSpPr>
        <p:spPr>
          <a:xfrm>
            <a:off x="671512" y="4200524"/>
            <a:ext cx="11396664" cy="2028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effectLst/>
              <a:latin typeface="Helvetica Neue" panose="02000503000000020004" pitchFamily="2" charset="0"/>
            </a:endParaRPr>
          </a:p>
        </p:txBody>
      </p:sp>
      <p:sp>
        <p:nvSpPr>
          <p:cNvPr id="2" name="Title 1">
            <a:extLst>
              <a:ext uri="{FF2B5EF4-FFF2-40B4-BE49-F238E27FC236}">
                <a16:creationId xmlns:a16="http://schemas.microsoft.com/office/drawing/2014/main" id="{B957946A-F1A6-0FC9-98F7-21C06A16E097}"/>
              </a:ext>
            </a:extLst>
          </p:cNvPr>
          <p:cNvSpPr txBox="1">
            <a:spLocks/>
          </p:cNvSpPr>
          <p:nvPr/>
        </p:nvSpPr>
        <p:spPr>
          <a:xfrm>
            <a:off x="123822" y="-618446"/>
            <a:ext cx="10434638" cy="2152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6000" u="sng" dirty="0">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84DB8FA0-3C4A-5A30-3C8E-6CA4139FA47F}"/>
              </a:ext>
            </a:extLst>
          </p:cNvPr>
          <p:cNvSpPr txBox="1">
            <a:spLocks/>
          </p:cNvSpPr>
          <p:nvPr/>
        </p:nvSpPr>
        <p:spPr>
          <a:xfrm>
            <a:off x="80963" y="953330"/>
            <a:ext cx="11863389" cy="11617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latin typeface="CordiaUPC" panose="020B0304020202020204" pitchFamily="34" charset="-34"/>
              <a:cs typeface="CordiaUPC" panose="020B0304020202020204" pitchFamily="34" charset="-34"/>
            </a:endParaRPr>
          </a:p>
        </p:txBody>
      </p:sp>
      <p:sp>
        <p:nvSpPr>
          <p:cNvPr id="6" name="Subtitle 2">
            <a:extLst>
              <a:ext uri="{FF2B5EF4-FFF2-40B4-BE49-F238E27FC236}">
                <a16:creationId xmlns:a16="http://schemas.microsoft.com/office/drawing/2014/main" id="{4AA074A9-E830-2DAE-D4BF-035EAAB4CC20}"/>
              </a:ext>
            </a:extLst>
          </p:cNvPr>
          <p:cNvSpPr txBox="1">
            <a:spLocks/>
          </p:cNvSpPr>
          <p:nvPr/>
        </p:nvSpPr>
        <p:spPr>
          <a:xfrm>
            <a:off x="204787" y="3033710"/>
            <a:ext cx="11396664" cy="2028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200" dirty="0">
              <a:latin typeface="Dreaming Outloud Pro" panose="020F0502020204030204" pitchFamily="34" charset="0"/>
              <a:cs typeface="Dreaming Outloud Pro" panose="020F0502020204030204" pitchFamily="34" charset="0"/>
            </a:endParaRPr>
          </a:p>
        </p:txBody>
      </p:sp>
      <p:sp>
        <p:nvSpPr>
          <p:cNvPr id="7" name="Subtitle 2">
            <a:extLst>
              <a:ext uri="{FF2B5EF4-FFF2-40B4-BE49-F238E27FC236}">
                <a16:creationId xmlns:a16="http://schemas.microsoft.com/office/drawing/2014/main" id="{2B3C48BB-941D-64B4-72B3-1EE99E22DBC4}"/>
              </a:ext>
            </a:extLst>
          </p:cNvPr>
          <p:cNvSpPr txBox="1">
            <a:spLocks/>
          </p:cNvSpPr>
          <p:nvPr/>
        </p:nvSpPr>
        <p:spPr>
          <a:xfrm>
            <a:off x="204787" y="4948235"/>
            <a:ext cx="11396664" cy="2028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200" dirty="0">
              <a:latin typeface="Dreaming Outloud Pro" panose="020F0502020204030204" pitchFamily="34" charset="0"/>
              <a:cs typeface="Dreaming Outloud Pro" panose="020F0502020204030204" pitchFamily="34" charset="0"/>
            </a:endParaRPr>
          </a:p>
        </p:txBody>
      </p:sp>
      <p:sp>
        <p:nvSpPr>
          <p:cNvPr id="8" name="Subtitle 2">
            <a:extLst>
              <a:ext uri="{FF2B5EF4-FFF2-40B4-BE49-F238E27FC236}">
                <a16:creationId xmlns:a16="http://schemas.microsoft.com/office/drawing/2014/main" id="{0ED7188F-28D4-EA39-46B3-8A576B712EAD}"/>
              </a:ext>
            </a:extLst>
          </p:cNvPr>
          <p:cNvSpPr txBox="1">
            <a:spLocks/>
          </p:cNvSpPr>
          <p:nvPr/>
        </p:nvSpPr>
        <p:spPr>
          <a:xfrm>
            <a:off x="204787" y="1585715"/>
            <a:ext cx="12068176" cy="16525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What did the data look like before any cleaning?</a:t>
            </a:r>
          </a:p>
          <a:p>
            <a:r>
              <a:rPr lang="en-US" sz="2400" dirty="0"/>
              <a:t>What issues did you identify? (Missing values, wrong data types, duplicates, inconsistent formatting, outliers, etc.)</a:t>
            </a:r>
          </a:p>
          <a:p>
            <a:r>
              <a:rPr lang="en-US" sz="2400" dirty="0"/>
              <a:t>Show at least one example of a raw data problem you encountered</a:t>
            </a:r>
          </a:p>
        </p:txBody>
      </p:sp>
      <p:sp>
        <p:nvSpPr>
          <p:cNvPr id="12" name="TextBox 11">
            <a:extLst>
              <a:ext uri="{FF2B5EF4-FFF2-40B4-BE49-F238E27FC236}">
                <a16:creationId xmlns:a16="http://schemas.microsoft.com/office/drawing/2014/main" id="{9A32680B-16FF-8B92-1BCA-056732BF2165}"/>
              </a:ext>
            </a:extLst>
          </p:cNvPr>
          <p:cNvSpPr txBox="1"/>
          <p:nvPr/>
        </p:nvSpPr>
        <p:spPr>
          <a:xfrm>
            <a:off x="318977" y="361507"/>
            <a:ext cx="4233851" cy="754053"/>
          </a:xfrm>
          <a:prstGeom prst="rect">
            <a:avLst/>
          </a:prstGeom>
          <a:noFill/>
        </p:spPr>
        <p:txBody>
          <a:bodyPr wrap="none" rtlCol="0">
            <a:spAutoFit/>
          </a:bodyPr>
          <a:lstStyle/>
          <a:p>
            <a:r>
              <a:rPr lang="en-US" sz="4300" dirty="0">
                <a:latin typeface="Aharoni" panose="02010803020104030203" pitchFamily="2" charset="-79"/>
                <a:ea typeface="ADLaM Display" panose="02010000000000000000" pitchFamily="2" charset="77"/>
                <a:cs typeface="Aharoni" panose="02010803020104030203" pitchFamily="2" charset="-79"/>
              </a:rPr>
              <a:t>Raw Data Over</a:t>
            </a:r>
            <a:endParaRPr lang="en-US" dirty="0"/>
          </a:p>
        </p:txBody>
      </p:sp>
    </p:spTree>
    <p:extLst>
      <p:ext uri="{BB962C8B-B14F-4D97-AF65-F5344CB8AC3E}">
        <p14:creationId xmlns:p14="http://schemas.microsoft.com/office/powerpoint/2010/main" val="2511484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3239B-DF05-2728-9F8A-BF1F06D9AC08}"/>
              </a:ext>
            </a:extLst>
          </p:cNvPr>
          <p:cNvSpPr>
            <a:spLocks noGrp="1"/>
          </p:cNvSpPr>
          <p:nvPr>
            <p:ph type="ctrTitle"/>
          </p:nvPr>
        </p:nvSpPr>
        <p:spPr>
          <a:xfrm>
            <a:off x="971106" y="1611461"/>
            <a:ext cx="9144000" cy="2387600"/>
          </a:xfrm>
        </p:spPr>
        <p:txBody>
          <a:bodyPr>
            <a:noAutofit/>
          </a:bodyPr>
          <a:lstStyle/>
          <a:p>
            <a:r>
              <a:rPr lang="en-US" sz="2400" dirty="0"/>
              <a:t>What steps did your group take to clean the data, and why?</a:t>
            </a:r>
            <a:br>
              <a:rPr lang="en-US" sz="2400" dirty="0"/>
            </a:br>
            <a:r>
              <a:rPr lang="en-US" sz="2400" dirty="0"/>
              <a:t>What tools and pandas methods did you use? (e.g. </a:t>
            </a:r>
            <a:r>
              <a:rPr lang="en-US" sz="2400" dirty="0" err="1"/>
              <a:t>dropna</a:t>
            </a:r>
            <a:r>
              <a:rPr lang="en-US" sz="2400" dirty="0"/>
              <a:t>, </a:t>
            </a:r>
            <a:r>
              <a:rPr lang="en-US" sz="2400" dirty="0" err="1"/>
              <a:t>fillna</a:t>
            </a:r>
            <a:r>
              <a:rPr lang="en-US" sz="2400" dirty="0"/>
              <a:t>, </a:t>
            </a:r>
            <a:r>
              <a:rPr lang="en-US" sz="2400" dirty="0" err="1"/>
              <a:t>astype</a:t>
            </a:r>
            <a:r>
              <a:rPr lang="en-US" sz="2400" dirty="0"/>
              <a:t>, </a:t>
            </a:r>
            <a:r>
              <a:rPr lang="en-US" sz="2400" dirty="0" err="1"/>
              <a:t>groupby</a:t>
            </a:r>
            <a:r>
              <a:rPr lang="en-US" sz="2400" dirty="0"/>
              <a:t>, merge, etc.)</a:t>
            </a:r>
            <a:br>
              <a:rPr lang="en-US" sz="2400" dirty="0"/>
            </a:br>
            <a:r>
              <a:rPr lang="en-US" sz="2400" dirty="0"/>
              <a:t>Were there any decisions that required judgement — for example, choosing to drop rows vs. fill missing values? Walk the class through your reasoning</a:t>
            </a:r>
            <a:br>
              <a:rPr lang="en-US" sz="2400" dirty="0"/>
            </a:br>
            <a:endParaRPr lang="en-US" sz="2400" dirty="0"/>
          </a:p>
        </p:txBody>
      </p:sp>
      <p:sp>
        <p:nvSpPr>
          <p:cNvPr id="8" name="TextBox 7">
            <a:extLst>
              <a:ext uri="{FF2B5EF4-FFF2-40B4-BE49-F238E27FC236}">
                <a16:creationId xmlns:a16="http://schemas.microsoft.com/office/drawing/2014/main" id="{30526731-9DDB-9E3B-F77B-EA635EEF0DB5}"/>
              </a:ext>
            </a:extLst>
          </p:cNvPr>
          <p:cNvSpPr txBox="1"/>
          <p:nvPr/>
        </p:nvSpPr>
        <p:spPr>
          <a:xfrm>
            <a:off x="148856" y="276447"/>
            <a:ext cx="9477274" cy="754053"/>
          </a:xfrm>
          <a:prstGeom prst="rect">
            <a:avLst/>
          </a:prstGeom>
          <a:noFill/>
        </p:spPr>
        <p:txBody>
          <a:bodyPr wrap="none" rtlCol="0">
            <a:spAutoFit/>
          </a:bodyPr>
          <a:lstStyle/>
          <a:p>
            <a:r>
              <a:rPr lang="en-US" sz="4300" dirty="0">
                <a:latin typeface="Aharoni" panose="02010803020104030203" pitchFamily="2" charset="-79"/>
                <a:ea typeface="ADLaM Display" panose="02010000000000000000" pitchFamily="2" charset="77"/>
                <a:cs typeface="Aharoni" panose="02010803020104030203" pitchFamily="2" charset="-79"/>
              </a:rPr>
              <a:t>Cleaning &amp; Processing Walkthrough</a:t>
            </a:r>
            <a:endParaRPr lang="en-US" dirty="0"/>
          </a:p>
        </p:txBody>
      </p:sp>
    </p:spTree>
    <p:extLst>
      <p:ext uri="{BB962C8B-B14F-4D97-AF65-F5344CB8AC3E}">
        <p14:creationId xmlns:p14="http://schemas.microsoft.com/office/powerpoint/2010/main" val="36567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7BC8-B3AF-7200-1C6A-1FAA0C278656}"/>
              </a:ext>
            </a:extLst>
          </p:cNvPr>
          <p:cNvSpPr>
            <a:spLocks noGrp="1"/>
          </p:cNvSpPr>
          <p:nvPr>
            <p:ph type="ctrTitle"/>
          </p:nvPr>
        </p:nvSpPr>
        <p:spPr>
          <a:xfrm>
            <a:off x="-2583712" y="157655"/>
            <a:ext cx="11212974" cy="686125"/>
          </a:xfrm>
        </p:spPr>
        <p:txBody>
          <a:bodyPr>
            <a:normAutofit fontScale="90000"/>
          </a:bodyPr>
          <a:lstStyle/>
          <a:p>
            <a:r>
              <a:rPr lang="en-US" sz="4400" dirty="0">
                <a:latin typeface="Aharoni" panose="02010803020104030203" pitchFamily="2" charset="-79"/>
                <a:ea typeface="ADLaM Display" panose="02010000000000000000" pitchFamily="2" charset="77"/>
                <a:cs typeface="Aharoni" panose="02010803020104030203" pitchFamily="2" charset="-79"/>
              </a:rPr>
              <a:t>Finding &amp; Visualizations</a:t>
            </a:r>
            <a:endParaRPr lang="en-US" sz="4400" u="sng" dirty="0">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34EEB83C-C40C-D0BC-567C-FC14C9A3462D}"/>
              </a:ext>
            </a:extLst>
          </p:cNvPr>
          <p:cNvSpPr>
            <a:spLocks noGrp="1"/>
          </p:cNvSpPr>
          <p:nvPr>
            <p:ph type="subTitle" idx="1"/>
          </p:nvPr>
        </p:nvSpPr>
        <p:spPr>
          <a:xfrm>
            <a:off x="-962025" y="7415213"/>
            <a:ext cx="9144000" cy="1655762"/>
          </a:xfrm>
        </p:spPr>
        <p:txBody>
          <a:bodyPr>
            <a:normAutofit/>
          </a:bodyPr>
          <a:lstStyle/>
          <a:p>
            <a:endParaRPr lang="en-US" sz="3200" dirty="0">
              <a:latin typeface="Dreaming Outloud Pro" panose="020F0502020204030204" pitchFamily="34" charset="0"/>
              <a:cs typeface="Dreaming Outloud Pro" panose="020F0502020204030204" pitchFamily="34" charset="0"/>
            </a:endParaRPr>
          </a:p>
        </p:txBody>
      </p:sp>
      <p:sp>
        <p:nvSpPr>
          <p:cNvPr id="10" name="TextBox 9">
            <a:extLst>
              <a:ext uri="{FF2B5EF4-FFF2-40B4-BE49-F238E27FC236}">
                <a16:creationId xmlns:a16="http://schemas.microsoft.com/office/drawing/2014/main" id="{CFBAADAA-4C4D-137C-0F34-74E0CBEF5061}"/>
              </a:ext>
            </a:extLst>
          </p:cNvPr>
          <p:cNvSpPr txBox="1"/>
          <p:nvPr/>
        </p:nvSpPr>
        <p:spPr>
          <a:xfrm>
            <a:off x="11592910" y="157655"/>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7A6C603-253E-52D1-54B6-094F2EFEA1A6}"/>
              </a:ext>
            </a:extLst>
          </p:cNvPr>
          <p:cNvSpPr txBox="1"/>
          <p:nvPr/>
        </p:nvSpPr>
        <p:spPr>
          <a:xfrm>
            <a:off x="850605" y="1796902"/>
            <a:ext cx="8198463" cy="1200329"/>
          </a:xfrm>
          <a:prstGeom prst="rect">
            <a:avLst/>
          </a:prstGeom>
          <a:noFill/>
        </p:spPr>
        <p:txBody>
          <a:bodyPr wrap="none" rtlCol="0">
            <a:spAutoFit/>
          </a:bodyPr>
          <a:lstStyle/>
          <a:p>
            <a:r>
              <a:rPr lang="en-US" dirty="0"/>
              <a:t>What did you discover in the data?</a:t>
            </a:r>
          </a:p>
          <a:p>
            <a:r>
              <a:rPr lang="en-US" dirty="0"/>
              <a:t>Present your visualizations and explain what each one shows</a:t>
            </a:r>
          </a:p>
          <a:p>
            <a:r>
              <a:rPr lang="en-US" dirty="0"/>
              <a:t>Did the data confirm your initial hypothesis, surprise you, or raise new questions?</a:t>
            </a:r>
          </a:p>
          <a:p>
            <a:endParaRPr lang="en-US" dirty="0"/>
          </a:p>
        </p:txBody>
      </p:sp>
    </p:spTree>
    <p:extLst>
      <p:ext uri="{BB962C8B-B14F-4D97-AF65-F5344CB8AC3E}">
        <p14:creationId xmlns:p14="http://schemas.microsoft.com/office/powerpoint/2010/main" val="254444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70AE3DF-1ADA-E494-73E0-4CE78E27F4CD}"/>
              </a:ext>
            </a:extLst>
          </p:cNvPr>
          <p:cNvSpPr>
            <a:spLocks noGrp="1"/>
          </p:cNvSpPr>
          <p:nvPr>
            <p:ph type="ctrTitle"/>
          </p:nvPr>
        </p:nvSpPr>
        <p:spPr>
          <a:xfrm>
            <a:off x="3289005" y="5419650"/>
            <a:ext cx="9144000" cy="2387600"/>
          </a:xfrm>
        </p:spPr>
        <p:txBody>
          <a:bodyPr/>
          <a:lstStyle/>
          <a:p>
            <a:endParaRPr lang="en-US" dirty="0"/>
          </a:p>
        </p:txBody>
      </p:sp>
      <p:sp>
        <p:nvSpPr>
          <p:cNvPr id="18" name="TextBox 17">
            <a:extLst>
              <a:ext uri="{FF2B5EF4-FFF2-40B4-BE49-F238E27FC236}">
                <a16:creationId xmlns:a16="http://schemas.microsoft.com/office/drawing/2014/main" id="{A905E283-4413-22FA-7390-1F891C0A2EBB}"/>
              </a:ext>
            </a:extLst>
          </p:cNvPr>
          <p:cNvSpPr txBox="1"/>
          <p:nvPr/>
        </p:nvSpPr>
        <p:spPr>
          <a:xfrm>
            <a:off x="138043" y="244550"/>
            <a:ext cx="5923416" cy="707886"/>
          </a:xfrm>
          <a:prstGeom prst="rect">
            <a:avLst/>
          </a:prstGeom>
          <a:noFill/>
        </p:spPr>
        <p:txBody>
          <a:bodyPr wrap="none" rtlCol="0">
            <a:spAutoFit/>
          </a:bodyPr>
          <a:lstStyle/>
          <a:p>
            <a:r>
              <a:rPr lang="en-US" sz="4000" dirty="0">
                <a:latin typeface="Aharoni" panose="02010803020104030203" pitchFamily="2" charset="-79"/>
                <a:ea typeface="ADLaM Display" panose="02010000000000000000" pitchFamily="2" charset="77"/>
                <a:cs typeface="Aharoni" panose="02010803020104030203" pitchFamily="2" charset="-79"/>
              </a:rPr>
              <a:t>Finding &amp; Visualizations</a:t>
            </a:r>
            <a:endParaRPr lang="en-US" sz="4000" dirty="0"/>
          </a:p>
        </p:txBody>
      </p:sp>
      <p:sp>
        <p:nvSpPr>
          <p:cNvPr id="20" name="TextBox 19">
            <a:extLst>
              <a:ext uri="{FF2B5EF4-FFF2-40B4-BE49-F238E27FC236}">
                <a16:creationId xmlns:a16="http://schemas.microsoft.com/office/drawing/2014/main" id="{3282F733-AE01-A2E3-9F81-E9DCE2A3AA4C}"/>
              </a:ext>
            </a:extLst>
          </p:cNvPr>
          <p:cNvSpPr txBox="1"/>
          <p:nvPr/>
        </p:nvSpPr>
        <p:spPr>
          <a:xfrm>
            <a:off x="366823" y="1059120"/>
            <a:ext cx="6134986" cy="2369880"/>
          </a:xfrm>
          <a:prstGeom prst="rect">
            <a:avLst/>
          </a:prstGeom>
          <a:noFill/>
        </p:spPr>
        <p:txBody>
          <a:bodyPr wrap="square">
            <a:spAutoFit/>
          </a:bodyPr>
          <a:lstStyle/>
          <a:p>
            <a:pPr algn="l">
              <a:spcAft>
                <a:spcPts val="1200"/>
              </a:spcAft>
              <a:buFont typeface="Arial" panose="020B0604020202020204" pitchFamily="34" charset="0"/>
              <a:buChar char="•"/>
            </a:pPr>
            <a:r>
              <a:rPr lang="en-US" b="0" i="0" dirty="0">
                <a:solidFill>
                  <a:srgbClr val="1F2328"/>
                </a:solidFill>
                <a:effectLst/>
                <a:latin typeface="Mona Sans VF"/>
              </a:rPr>
              <a:t>What would you do differently if you had more time?</a:t>
            </a:r>
          </a:p>
          <a:p>
            <a:pPr algn="l">
              <a:spcAft>
                <a:spcPts val="1200"/>
              </a:spcAft>
              <a:buFont typeface="Arial" panose="020B0604020202020204" pitchFamily="34" charset="0"/>
              <a:buChar char="•"/>
            </a:pPr>
            <a:r>
              <a:rPr lang="en-US" b="0" i="0" dirty="0">
                <a:solidFill>
                  <a:srgbClr val="1F2328"/>
                </a:solidFill>
                <a:effectLst/>
                <a:latin typeface="Mona Sans VF"/>
              </a:rPr>
              <a:t>What additional data would have been useful?</a:t>
            </a:r>
          </a:p>
          <a:p>
            <a:pPr algn="l">
              <a:spcAft>
                <a:spcPts val="1200"/>
              </a:spcAft>
              <a:buFont typeface="Arial" panose="020B0604020202020204" pitchFamily="34" charset="0"/>
              <a:buChar char="•"/>
            </a:pPr>
            <a:r>
              <a:rPr lang="en-US" b="0" i="0" dirty="0">
                <a:solidFill>
                  <a:srgbClr val="1F2328"/>
                </a:solidFill>
                <a:effectLst/>
                <a:latin typeface="Mona Sans VF"/>
              </a:rPr>
              <a:t>What was the hardest part of the activity?</a:t>
            </a:r>
          </a:p>
          <a:p>
            <a:pPr algn="l">
              <a:spcAft>
                <a:spcPts val="1200"/>
              </a:spcAft>
              <a:buFont typeface="Arial" panose="020B0604020202020204" pitchFamily="34" charset="0"/>
              <a:buChar char="•"/>
            </a:pPr>
            <a:r>
              <a:rPr lang="en-US" b="0" i="0" dirty="0">
                <a:solidFill>
                  <a:srgbClr val="1F2328"/>
                </a:solidFill>
                <a:effectLst/>
                <a:latin typeface="Mona Sans VF"/>
              </a:rPr>
              <a:t>What did each team member learn?</a:t>
            </a:r>
          </a:p>
          <a:p>
            <a:pPr>
              <a:buNone/>
            </a:pPr>
            <a:br>
              <a:rPr lang="en-US" dirty="0"/>
            </a:br>
            <a:endParaRPr lang="en-US" dirty="0"/>
          </a:p>
        </p:txBody>
      </p:sp>
    </p:spTree>
    <p:extLst>
      <p:ext uri="{BB962C8B-B14F-4D97-AF65-F5344CB8AC3E}">
        <p14:creationId xmlns:p14="http://schemas.microsoft.com/office/powerpoint/2010/main" val="138722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4BE5409-0843-71EA-1FA1-76615C708834}"/>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6239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35B42A-E2A7-B1C5-05A2-46DD5D2213B5}"/>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557004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E9D324A-7140-7028-5F48-6A746195D185}"/>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876012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7BC8-B3AF-7200-1C6A-1FAA0C278656}"/>
              </a:ext>
            </a:extLst>
          </p:cNvPr>
          <p:cNvSpPr>
            <a:spLocks noGrp="1"/>
          </p:cNvSpPr>
          <p:nvPr>
            <p:ph type="ctrTitle"/>
          </p:nvPr>
        </p:nvSpPr>
        <p:spPr>
          <a:xfrm>
            <a:off x="3224213" y="5272087"/>
            <a:ext cx="11572874" cy="6115050"/>
          </a:xfrm>
        </p:spPr>
        <p:txBody>
          <a:bodyPr>
            <a:noAutofit/>
          </a:bodyPr>
          <a:lstStyle/>
          <a:p>
            <a:pPr algn="l"/>
            <a:r>
              <a:rPr lang="en-US" sz="8000" dirty="0">
                <a:latin typeface="Aharoni" panose="02010803020104030203" pitchFamily="2" charset="-79"/>
                <a:cs typeface="Aharoni" panose="02010803020104030203" pitchFamily="2" charset="-79"/>
              </a:rPr>
              <a:t>Questions ?       </a:t>
            </a:r>
            <a:r>
              <a:rPr lang="en-US" sz="8000" b="0" i="0" dirty="0">
                <a:solidFill>
                  <a:srgbClr val="202124"/>
                </a:solidFill>
                <a:effectLst/>
                <a:latin typeface="Aharoni" panose="02010803020104030203" pitchFamily="2" charset="-79"/>
              </a:rPr>
              <a:t>	                             		</a:t>
            </a:r>
            <a:r>
              <a:rPr lang="ar-AE" sz="8000" b="0" i="0" dirty="0">
                <a:solidFill>
                  <a:srgbClr val="202124"/>
                </a:solidFill>
                <a:effectLst/>
                <a:latin typeface="Aharoni" panose="02010803020104030203" pitchFamily="2" charset="-79"/>
              </a:rPr>
              <a:t> </a:t>
            </a:r>
            <a:br>
              <a:rPr lang="en-US" sz="8000" b="0" i="0" dirty="0">
                <a:solidFill>
                  <a:srgbClr val="202124"/>
                </a:solidFill>
                <a:effectLst/>
                <a:latin typeface="Aharoni" panose="02010803020104030203" pitchFamily="2" charset="-79"/>
              </a:rPr>
            </a:br>
            <a:br>
              <a:rPr lang="en-US" sz="8000" b="0" i="0" dirty="0">
                <a:solidFill>
                  <a:srgbClr val="202124"/>
                </a:solidFill>
                <a:effectLst/>
                <a:latin typeface="Aharoni" panose="02010803020104030203" pitchFamily="2" charset="-79"/>
              </a:rPr>
            </a:br>
            <a:br>
              <a:rPr lang="ko-KR" altLang="en-US" sz="8000" b="0" i="0" dirty="0">
                <a:solidFill>
                  <a:srgbClr val="202124"/>
                </a:solidFill>
                <a:effectLst/>
                <a:latin typeface="Aharoni" panose="02010803020104030203" pitchFamily="2" charset="-79"/>
                <a:cs typeface="Aharoni" panose="02010803020104030203" pitchFamily="2" charset="-79"/>
              </a:rPr>
            </a:br>
            <a:br>
              <a:rPr lang="ar-AE" sz="8000" b="0" i="0" dirty="0">
                <a:solidFill>
                  <a:srgbClr val="202124"/>
                </a:solidFill>
                <a:effectLst/>
                <a:latin typeface="Aharoni" panose="02010803020104030203" pitchFamily="2" charset="-79"/>
              </a:rPr>
            </a:br>
            <a:br>
              <a:rPr lang="ar-AE" sz="8000" b="0" i="0" dirty="0">
                <a:solidFill>
                  <a:srgbClr val="202124"/>
                </a:solidFill>
                <a:effectLst/>
                <a:latin typeface="Aharoni" panose="02010803020104030203" pitchFamily="2" charset="-79"/>
              </a:rPr>
            </a:br>
            <a:br>
              <a:rPr lang="ar-AE" sz="8000" b="0" i="0" dirty="0">
                <a:solidFill>
                  <a:srgbClr val="202124"/>
                </a:solidFill>
                <a:effectLst/>
                <a:latin typeface="Aharoni" panose="02010803020104030203" pitchFamily="2" charset="-79"/>
              </a:rPr>
            </a:br>
            <a:endParaRPr lang="en-US" sz="8000" dirty="0">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34EEB83C-C40C-D0BC-567C-FC14C9A3462D}"/>
              </a:ext>
            </a:extLst>
          </p:cNvPr>
          <p:cNvSpPr>
            <a:spLocks noGrp="1"/>
          </p:cNvSpPr>
          <p:nvPr>
            <p:ph type="subTitle" idx="1"/>
          </p:nvPr>
        </p:nvSpPr>
        <p:spPr>
          <a:xfrm>
            <a:off x="-3019425" y="9140824"/>
            <a:ext cx="13906500" cy="2927349"/>
          </a:xfrm>
        </p:spPr>
        <p:txBody>
          <a:bodyPr>
            <a:normAutofit/>
          </a:bodyPr>
          <a:lstStyle/>
          <a:p>
            <a:endParaRPr lang="en-US" sz="3200" dirty="0">
              <a:latin typeface="Dreaming Outloud Pro" panose="020F0502020204030204" pitchFamily="34" charset="0"/>
              <a:cs typeface="Dreaming Outloud Pro" panose="020F0502020204030204" pitchFamily="34" charset="0"/>
            </a:endParaRPr>
          </a:p>
        </p:txBody>
      </p:sp>
    </p:spTree>
    <p:extLst>
      <p:ext uri="{BB962C8B-B14F-4D97-AF65-F5344CB8AC3E}">
        <p14:creationId xmlns:p14="http://schemas.microsoft.com/office/powerpoint/2010/main" val="506887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35FDE17-3145-3767-0EE9-82398D279ED2}"/>
              </a:ext>
            </a:extLst>
          </p:cNvPr>
          <p:cNvSpPr>
            <a:spLocks noGrp="1"/>
          </p:cNvSpPr>
          <p:nvPr>
            <p:ph type="ctrTitle"/>
          </p:nvPr>
        </p:nvSpPr>
        <p:spPr/>
        <p:txBody>
          <a:bodyPr/>
          <a:lstStyle/>
          <a:p>
            <a:endParaRPr lang="en-US"/>
          </a:p>
        </p:txBody>
      </p:sp>
      <p:sp>
        <p:nvSpPr>
          <p:cNvPr id="11" name="Subtitle 10">
            <a:extLst>
              <a:ext uri="{FF2B5EF4-FFF2-40B4-BE49-F238E27FC236}">
                <a16:creationId xmlns:a16="http://schemas.microsoft.com/office/drawing/2014/main" id="{D50024AB-910A-BFBE-533D-1BFD6E431B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20044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3823</TotalTime>
  <Words>424</Words>
  <Application>Microsoft Macintosh PowerPoint</Application>
  <PresentationFormat>Widescreen</PresentationFormat>
  <Paragraphs>48</Paragraphs>
  <Slides>12</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vt:i4>
      </vt:variant>
    </vt:vector>
  </HeadingPairs>
  <TitlesOfParts>
    <vt:vector size="27" baseType="lpstr">
      <vt:lpstr>Aharoni</vt:lpstr>
      <vt:lpstr>Aptos</vt:lpstr>
      <vt:lpstr>Aptos Display</vt:lpstr>
      <vt:lpstr>Arial</vt:lpstr>
      <vt:lpstr>Arial Rounded MT Bold</vt:lpstr>
      <vt:lpstr>Arima Madurai</vt:lpstr>
      <vt:lpstr>Arima Madurai Bold</vt:lpstr>
      <vt:lpstr>Bai Jamjuree</vt:lpstr>
      <vt:lpstr>CordiaUPC</vt:lpstr>
      <vt:lpstr>Dreaming Outloud Pro</vt:lpstr>
      <vt:lpstr>Helvetica Neue</vt:lpstr>
      <vt:lpstr>Mona Sans VF</vt:lpstr>
      <vt:lpstr>Muna</vt:lpstr>
      <vt:lpstr>Rockwell</vt:lpstr>
      <vt:lpstr>Office Theme</vt:lpstr>
      <vt:lpstr>Coffee Analysis </vt:lpstr>
      <vt:lpstr>PowerPoint Presentation</vt:lpstr>
      <vt:lpstr>PowerPoint Presentation</vt:lpstr>
      <vt:lpstr>PowerPoint Presentation</vt:lpstr>
      <vt:lpstr>What steps did your group take to clean the data, and why? What tools and pandas methods did you use? (e.g. dropna, fillna, astype, groupby, merge, etc.) Were there any decisions that required judgement — for example, choosing to drop rows vs. fill missing values? Walk the class through your reasoning </vt:lpstr>
      <vt:lpstr>Finding &amp; Visualizations</vt:lpstr>
      <vt:lpstr>PowerPoint Presentation</vt:lpstr>
      <vt:lpstr>PowerPoint Presentation</vt:lpstr>
      <vt:lpstr>PowerPoint Presentation</vt:lpstr>
      <vt:lpstr>PowerPoint Presentation</vt:lpstr>
      <vt:lpstr>Questions ?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Kyle Drewes</dc:creator>
  <cp:lastModifiedBy>Kyle Drewes</cp:lastModifiedBy>
  <cp:revision>36</cp:revision>
  <dcterms:created xsi:type="dcterms:W3CDTF">2024-05-04T06:58:09Z</dcterms:created>
  <dcterms:modified xsi:type="dcterms:W3CDTF">2026-06-17T04:38:12Z</dcterms:modified>
</cp:coreProperties>
</file>